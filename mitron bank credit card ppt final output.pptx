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64" r:id="rId4"/>
    <p:sldId id="265" r:id="rId5"/>
    <p:sldId id="266" r:id="rId6"/>
    <p:sldId id="267" r:id="rId7"/>
    <p:sldId id="268" r:id="rId8"/>
    <p:sldId id="262" r:id="rId9"/>
    <p:sldId id="270" r:id="rId10"/>
    <p:sldId id="263" r:id="rId11"/>
  </p:sldIdLst>
  <p:sldSz cx="18356263" cy="10325100"/>
  <p:notesSz cx="12192000" cy="10325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2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1010"/>
    <a:srgbClr val="FF6600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40" y="53"/>
      </p:cViewPr>
      <p:guideLst>
        <p:guide orient="horz" pos="2880"/>
        <p:guide pos="32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17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17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B94D5-C259-4B74-BE23-2CE6B5A602D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98788" y="1290638"/>
            <a:ext cx="6194425" cy="3484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968875"/>
            <a:ext cx="9753600" cy="40655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807575"/>
            <a:ext cx="5283200" cy="517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807575"/>
            <a:ext cx="5283200" cy="517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E987D-A8FB-4ED4-975D-118EAB1EBA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33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915EA-8963-B0CD-2E71-F8035899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8FA57-3A53-120F-4BB6-6C7FA71DF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7FEF3-8C4E-790C-275A-6062DD209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3C840-6929-D60F-0350-2503D3A7A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E987D-A8FB-4ED4-975D-118EAB1EBA6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24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6720" y="2125980"/>
            <a:ext cx="15602824" cy="6386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1" i="0">
                <a:solidFill>
                  <a:srgbClr val="5C2E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53440" y="3840480"/>
            <a:ext cx="12849384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5C2E0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rgbClr val="5C2E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5C2E0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rgbClr val="5C2E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7813" y="1577340"/>
            <a:ext cx="7984974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53476" y="1577340"/>
            <a:ext cx="7984974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rgbClr val="5C2E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239" y="337722"/>
            <a:ext cx="14242834" cy="6386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1" i="0">
                <a:solidFill>
                  <a:srgbClr val="5C2E0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7042" y="2387559"/>
            <a:ext cx="8202955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5C2E0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41130" y="6377940"/>
            <a:ext cx="58740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813" y="6377940"/>
            <a:ext cx="42219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216510" y="6377940"/>
            <a:ext cx="42219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026371" y="3028950"/>
            <a:ext cx="6303519" cy="14888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spcBef>
                <a:spcPts val="90"/>
              </a:spcBef>
            </a:pPr>
            <a:r>
              <a:rPr sz="4800" spc="-195" dirty="0">
                <a:solidFill>
                  <a:srgbClr val="661010"/>
                </a:solidFill>
              </a:rPr>
              <a:t>Mitron</a:t>
            </a:r>
            <a:r>
              <a:rPr sz="4800" spc="-310" dirty="0">
                <a:solidFill>
                  <a:srgbClr val="661010"/>
                </a:solidFill>
              </a:rPr>
              <a:t> </a:t>
            </a:r>
            <a:r>
              <a:rPr sz="4800" spc="-390" dirty="0">
                <a:solidFill>
                  <a:srgbClr val="661010"/>
                </a:solidFill>
              </a:rPr>
              <a:t>Bank:</a:t>
            </a:r>
            <a:r>
              <a:rPr sz="4800" spc="-290" dirty="0">
                <a:solidFill>
                  <a:srgbClr val="661010"/>
                </a:solidFill>
              </a:rPr>
              <a:t> </a:t>
            </a:r>
            <a:r>
              <a:rPr sz="4800" spc="-490" dirty="0">
                <a:solidFill>
                  <a:srgbClr val="661010"/>
                </a:solidFill>
              </a:rPr>
              <a:t>New</a:t>
            </a:r>
            <a:r>
              <a:rPr sz="4800" spc="-405" dirty="0">
                <a:solidFill>
                  <a:srgbClr val="661010"/>
                </a:solidFill>
              </a:rPr>
              <a:t> </a:t>
            </a:r>
            <a:r>
              <a:rPr sz="4800" spc="-260" dirty="0">
                <a:solidFill>
                  <a:srgbClr val="661010"/>
                </a:solidFill>
              </a:rPr>
              <a:t>Credit</a:t>
            </a:r>
            <a:r>
              <a:rPr sz="4800" spc="-325" dirty="0">
                <a:solidFill>
                  <a:srgbClr val="661010"/>
                </a:solidFill>
              </a:rPr>
              <a:t> </a:t>
            </a:r>
            <a:r>
              <a:rPr sz="4800" spc="-335" dirty="0">
                <a:solidFill>
                  <a:srgbClr val="661010"/>
                </a:solidFill>
              </a:rPr>
              <a:t>Card</a:t>
            </a:r>
            <a:r>
              <a:rPr sz="4800" spc="-290" dirty="0">
                <a:solidFill>
                  <a:srgbClr val="661010"/>
                </a:solidFill>
              </a:rPr>
              <a:t> </a:t>
            </a:r>
            <a:r>
              <a:rPr sz="4800" spc="-325" dirty="0">
                <a:solidFill>
                  <a:srgbClr val="661010"/>
                </a:solidFill>
              </a:rPr>
              <a:t>Line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35D6DC8-03B4-17B3-1002-C23FF1CB1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830" y="209550"/>
            <a:ext cx="4038600" cy="2971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1E0824-3A6F-222A-434F-088AF0AA9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31" y="6457950"/>
            <a:ext cx="3200400" cy="3552367"/>
          </a:xfrm>
          <a:prstGeom prst="rect">
            <a:avLst/>
          </a:prstGeom>
        </p:spPr>
      </p:pic>
      <p:sp>
        <p:nvSpPr>
          <p:cNvPr id="4" name="object 16">
            <a:extLst>
              <a:ext uri="{FF2B5EF4-FFF2-40B4-BE49-F238E27FC236}">
                <a16:creationId xmlns:a16="http://schemas.microsoft.com/office/drawing/2014/main" id="{1705F105-ED9D-BF1D-76A9-07E7AEAEBE0A}"/>
              </a:ext>
            </a:extLst>
          </p:cNvPr>
          <p:cNvSpPr txBox="1">
            <a:spLocks/>
          </p:cNvSpPr>
          <p:nvPr/>
        </p:nvSpPr>
        <p:spPr>
          <a:xfrm>
            <a:off x="719931" y="5467350"/>
            <a:ext cx="4900798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150" b="1" i="0">
                <a:solidFill>
                  <a:srgbClr val="5C2E09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IN" sz="4000" spc="-305" dirty="0">
                <a:solidFill>
                  <a:srgbClr val="661010"/>
                </a:solidFill>
              </a:rPr>
              <a:t>Problem</a:t>
            </a:r>
            <a:r>
              <a:rPr lang="en-IN" sz="4000" spc="-245" dirty="0">
                <a:solidFill>
                  <a:srgbClr val="661010"/>
                </a:solidFill>
              </a:rPr>
              <a:t> </a:t>
            </a:r>
            <a:r>
              <a:rPr lang="en-IN" sz="4000" spc="-320" dirty="0">
                <a:solidFill>
                  <a:srgbClr val="661010"/>
                </a:solidFill>
              </a:rPr>
              <a:t>Statement : -</a:t>
            </a:r>
            <a:endParaRPr lang="en-IN" sz="4000" dirty="0">
              <a:solidFill>
                <a:srgbClr val="661010"/>
              </a:solidFill>
            </a:endParaRPr>
          </a:p>
        </p:txBody>
      </p:sp>
      <p:sp>
        <p:nvSpPr>
          <p:cNvPr id="5" name="object 20">
            <a:extLst>
              <a:ext uri="{FF2B5EF4-FFF2-40B4-BE49-F238E27FC236}">
                <a16:creationId xmlns:a16="http://schemas.microsoft.com/office/drawing/2014/main" id="{917F214F-2A07-CD10-F1C9-C3578A9258D4}"/>
              </a:ext>
            </a:extLst>
          </p:cNvPr>
          <p:cNvSpPr txBox="1"/>
          <p:nvPr/>
        </p:nvSpPr>
        <p:spPr>
          <a:xfrm>
            <a:off x="5825331" y="6131395"/>
            <a:ext cx="12039600" cy="32685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endParaRPr lang="en-IN" sz="1550" dirty="0">
              <a:latin typeface="Arial"/>
              <a:cs typeface="Arial"/>
            </a:endParaRPr>
          </a:p>
          <a:p>
            <a:pPr marL="12700" marR="5080">
              <a:lnSpc>
                <a:spcPct val="136400"/>
              </a:lnSpc>
              <a:spcBef>
                <a:spcPts val="434"/>
              </a:spcBef>
            </a:pPr>
            <a:r>
              <a:rPr lang="en-US" sz="2400" dirty="0">
                <a:solidFill>
                  <a:srgbClr val="661010"/>
                </a:solidFill>
              </a:rPr>
              <a:t>Mitron Bank, a legacy financial institution headquartered in Hyderabad, plans to launch a new line of credit cards to expand its product portfolio and strengthen its presence in the competitive financial services market. To ensure a successful launch, the bank seeks to leverage data analytics to understand customer demographics, spending behavior, credit risk, and market opportunities, enabling data-driven decisions for product design, targeting, and strategy.</a:t>
            </a:r>
            <a:endParaRPr lang="en-IN" sz="2400" dirty="0">
              <a:solidFill>
                <a:srgbClr val="66101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4DAA40-5E07-1D72-5ED1-4322BD92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6F44CB8-FE2A-3F0F-B1EB-96548EE68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4830" y="640530"/>
            <a:ext cx="4953000" cy="448841"/>
          </a:xfrm>
          <a:prstGeom prst="rect">
            <a:avLst/>
          </a:prstGeom>
          <a:solidFill>
            <a:srgbClr val="000000">
              <a:alpha val="1019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3510"/>
              </a:lnSpc>
            </a:pPr>
            <a:r>
              <a:rPr sz="3850" spc="-210" dirty="0">
                <a:solidFill>
                  <a:srgbClr val="661010"/>
                </a:solidFill>
                <a:latin typeface="Tahoma"/>
                <a:cs typeface="Tahoma"/>
              </a:rPr>
              <a:t>PROJECT</a:t>
            </a:r>
            <a:r>
              <a:rPr sz="3850" spc="-325" dirty="0">
                <a:solidFill>
                  <a:srgbClr val="661010"/>
                </a:solidFill>
                <a:latin typeface="Tahoma"/>
                <a:cs typeface="Tahoma"/>
              </a:rPr>
              <a:t> </a:t>
            </a:r>
            <a:r>
              <a:rPr sz="3850" spc="-210" dirty="0">
                <a:solidFill>
                  <a:srgbClr val="661010"/>
                </a:solidFill>
                <a:latin typeface="Tahoma"/>
                <a:cs typeface="Tahoma"/>
              </a:rPr>
              <a:t>OBJECTIVES</a:t>
            </a:r>
            <a:endParaRPr sz="3850" dirty="0">
              <a:solidFill>
                <a:srgbClr val="661010"/>
              </a:solidFill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5F7B921-893B-81A1-F284-F68E8472E066}"/>
              </a:ext>
            </a:extLst>
          </p:cNvPr>
          <p:cNvSpPr/>
          <p:nvPr/>
        </p:nvSpPr>
        <p:spPr>
          <a:xfrm flipH="1">
            <a:off x="8831420" y="2242199"/>
            <a:ext cx="184785" cy="6777977"/>
          </a:xfrm>
          <a:custGeom>
            <a:avLst/>
            <a:gdLst/>
            <a:ahLst/>
            <a:cxnLst/>
            <a:rect l="l" t="t" r="r" b="b"/>
            <a:pathLst>
              <a:path w="9525" h="4200525">
                <a:moveTo>
                  <a:pt x="9524" y="4200524"/>
                </a:moveTo>
                <a:lnTo>
                  <a:pt x="0" y="4200524"/>
                </a:lnTo>
                <a:lnTo>
                  <a:pt x="0" y="0"/>
                </a:lnTo>
                <a:lnTo>
                  <a:pt x="9524" y="0"/>
                </a:lnTo>
                <a:lnTo>
                  <a:pt x="9524" y="4200524"/>
                </a:lnTo>
                <a:close/>
              </a:path>
            </a:pathLst>
          </a:custGeom>
          <a:solidFill>
            <a:srgbClr val="661010"/>
          </a:solidFill>
        </p:spPr>
        <p:txBody>
          <a:bodyPr wrap="square" lIns="0" tIns="0" rIns="0" bIns="0" rtlCol="0"/>
          <a:lstStyle/>
          <a:p>
            <a:endParaRPr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993BDEB-C503-DEE1-F277-0C46F442267B}"/>
              </a:ext>
            </a:extLst>
          </p:cNvPr>
          <p:cNvSpPr/>
          <p:nvPr/>
        </p:nvSpPr>
        <p:spPr>
          <a:xfrm>
            <a:off x="1722437" y="1998218"/>
            <a:ext cx="4686300" cy="45719"/>
          </a:xfrm>
          <a:custGeom>
            <a:avLst/>
            <a:gdLst/>
            <a:ahLst/>
            <a:cxnLst/>
            <a:rect l="l" t="t" r="r" b="b"/>
            <a:pathLst>
              <a:path w="4686300" h="38100">
                <a:moveTo>
                  <a:pt x="4686299" y="38099"/>
                </a:moveTo>
                <a:lnTo>
                  <a:pt x="0" y="38099"/>
                </a:lnTo>
                <a:lnTo>
                  <a:pt x="0" y="0"/>
                </a:lnTo>
                <a:lnTo>
                  <a:pt x="4686299" y="0"/>
                </a:lnTo>
                <a:lnTo>
                  <a:pt x="4686299" y="38099"/>
                </a:lnTo>
                <a:close/>
              </a:path>
            </a:pathLst>
          </a:custGeom>
          <a:solidFill>
            <a:srgbClr val="661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446D43C-1C94-2076-28C7-F5DDBE0A180F}"/>
              </a:ext>
            </a:extLst>
          </p:cNvPr>
          <p:cNvSpPr txBox="1"/>
          <p:nvPr/>
        </p:nvSpPr>
        <p:spPr>
          <a:xfrm>
            <a:off x="4744392" y="2420548"/>
            <a:ext cx="9906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spcBef>
                <a:spcPts val="114"/>
              </a:spcBef>
            </a:pPr>
            <a:r>
              <a:rPr sz="1900" b="1" spc="9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2E82C8C-0721-C5C2-DAF2-A1C574BF93E6}"/>
              </a:ext>
            </a:extLst>
          </p:cNvPr>
          <p:cNvSpPr txBox="1"/>
          <p:nvPr/>
        </p:nvSpPr>
        <p:spPr>
          <a:xfrm>
            <a:off x="1945369" y="7375355"/>
            <a:ext cx="6235306" cy="142205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15620">
              <a:lnSpc>
                <a:spcPts val="2180"/>
              </a:lnSpc>
              <a:spcBef>
                <a:spcPts val="425"/>
              </a:spcBef>
            </a:pPr>
            <a:r>
              <a:rPr lang="en-US" sz="2800" dirty="0">
                <a:solidFill>
                  <a:srgbClr val="661010"/>
                </a:solidFill>
              </a:rPr>
              <a:t>Spending &amp; income</a:t>
            </a:r>
            <a:endParaRPr lang="en-US" sz="2800" spc="-285" dirty="0">
              <a:solidFill>
                <a:srgbClr val="661010"/>
              </a:solidFill>
              <a:latin typeface="Aptos" panose="020B0004020202020204" pitchFamily="34" charset="0"/>
              <a:cs typeface="Tahoma"/>
            </a:endParaRPr>
          </a:p>
          <a:p>
            <a:pPr marR="515620">
              <a:lnSpc>
                <a:spcPts val="2180"/>
              </a:lnSpc>
              <a:spcBef>
                <a:spcPts val="425"/>
              </a:spcBef>
            </a:pPr>
            <a:endParaRPr sz="2800" dirty="0">
              <a:solidFill>
                <a:srgbClr val="661010"/>
              </a:solidFill>
              <a:latin typeface="Aptos" panose="020B0004020202020204" pitchFamily="34" charset="0"/>
              <a:cs typeface="Tahoma"/>
            </a:endParaRPr>
          </a:p>
          <a:p>
            <a:pPr marR="5080">
              <a:lnSpc>
                <a:spcPct val="135400"/>
              </a:lnSpc>
              <a:spcBef>
                <a:spcPts val="325"/>
              </a:spcBef>
            </a:pPr>
            <a:r>
              <a:rPr lang="en-US" dirty="0">
                <a:solidFill>
                  <a:srgbClr val="661010"/>
                </a:solidFill>
              </a:rPr>
              <a:t>Analyze customer Income &amp;  spending  patterns to design credit card features  with lifestyle and usage behavior.</a:t>
            </a:r>
            <a:endParaRPr dirty="0">
              <a:solidFill>
                <a:srgbClr val="661010"/>
              </a:solidFill>
              <a:latin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CB697CE-DEBF-DAFB-275C-B8B0241EBA92}"/>
              </a:ext>
            </a:extLst>
          </p:cNvPr>
          <p:cNvSpPr txBox="1"/>
          <p:nvPr/>
        </p:nvSpPr>
        <p:spPr>
          <a:xfrm>
            <a:off x="4644231" y="4677973"/>
            <a:ext cx="31432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590">
              <a:spcBef>
                <a:spcPts val="114"/>
              </a:spcBef>
            </a:pPr>
            <a:r>
              <a:rPr sz="1900" b="1" spc="120" dirty="0">
                <a:solidFill>
                  <a:srgbClr val="FFFFFF"/>
                </a:solidFill>
                <a:latin typeface="Arial"/>
                <a:cs typeface="Arial"/>
              </a:rPr>
              <a:t>III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EE46BBA-CBA7-5A52-07E5-327672077C8C}"/>
              </a:ext>
            </a:extLst>
          </p:cNvPr>
          <p:cNvSpPr txBox="1"/>
          <p:nvPr/>
        </p:nvSpPr>
        <p:spPr>
          <a:xfrm>
            <a:off x="9673432" y="4677973"/>
            <a:ext cx="33337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0640">
              <a:spcBef>
                <a:spcPts val="114"/>
              </a:spcBef>
            </a:pPr>
            <a:r>
              <a:rPr sz="1900" b="1" spc="-25" dirty="0">
                <a:solidFill>
                  <a:srgbClr val="FFFFFF"/>
                </a:solidFill>
                <a:latin typeface="Arial"/>
                <a:cs typeface="Arial"/>
              </a:rPr>
              <a:t>IV</a:t>
            </a:r>
            <a:endParaRPr sz="1900">
              <a:latin typeface="Arial"/>
              <a:cs typeface="Arial"/>
            </a:endParaRPr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B5E9548F-A40E-24DA-1667-51D29E8223D0}"/>
              </a:ext>
            </a:extLst>
          </p:cNvPr>
          <p:cNvSpPr txBox="1"/>
          <p:nvPr/>
        </p:nvSpPr>
        <p:spPr>
          <a:xfrm>
            <a:off x="9747726" y="2429053"/>
            <a:ext cx="18478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spcBef>
                <a:spcPts val="114"/>
              </a:spcBef>
            </a:pPr>
            <a:r>
              <a:rPr sz="1900" b="1" spc="120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8" name="object 20">
            <a:extLst>
              <a:ext uri="{FF2B5EF4-FFF2-40B4-BE49-F238E27FC236}">
                <a16:creationId xmlns:a16="http://schemas.microsoft.com/office/drawing/2014/main" id="{66FA71D0-EF4D-6F51-8ECF-13B2B277C56B}"/>
              </a:ext>
            </a:extLst>
          </p:cNvPr>
          <p:cNvSpPr txBox="1"/>
          <p:nvPr/>
        </p:nvSpPr>
        <p:spPr>
          <a:xfrm>
            <a:off x="1953357" y="5020668"/>
            <a:ext cx="6225779" cy="142205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15620">
              <a:lnSpc>
                <a:spcPts val="2180"/>
              </a:lnSpc>
              <a:spcBef>
                <a:spcPts val="425"/>
              </a:spcBef>
            </a:pPr>
            <a:r>
              <a:rPr lang="en-US" sz="2800" spc="-285" dirty="0">
                <a:solidFill>
                  <a:srgbClr val="661010"/>
                </a:solidFill>
                <a:latin typeface="Aptos" panose="020B0004020202020204" pitchFamily="34" charset="0"/>
                <a:cs typeface="Tahoma"/>
              </a:rPr>
              <a:t>Insights    &amp;     Recommendation</a:t>
            </a:r>
          </a:p>
          <a:p>
            <a:pPr marR="515620">
              <a:lnSpc>
                <a:spcPts val="2180"/>
              </a:lnSpc>
              <a:spcBef>
                <a:spcPts val="425"/>
              </a:spcBef>
            </a:pPr>
            <a:endParaRPr sz="2800" dirty="0">
              <a:solidFill>
                <a:srgbClr val="661010"/>
              </a:solidFill>
              <a:latin typeface="Aptos" panose="020B0004020202020204" pitchFamily="34" charset="0"/>
              <a:cs typeface="Tahoma"/>
            </a:endParaRPr>
          </a:p>
          <a:p>
            <a:pPr marR="5080">
              <a:lnSpc>
                <a:spcPct val="135400"/>
              </a:lnSpc>
              <a:spcBef>
                <a:spcPts val="325"/>
              </a:spcBef>
            </a:pPr>
            <a:r>
              <a:rPr lang="en-US" dirty="0">
                <a:solidFill>
                  <a:srgbClr val="661010"/>
                </a:solidFill>
              </a:rPr>
              <a:t> Provide actionable insights &amp; Recommendations through dashboards and reports</a:t>
            </a:r>
            <a:r>
              <a:rPr lang="en-US" dirty="0"/>
              <a:t>.</a:t>
            </a:r>
            <a:endParaRPr dirty="0">
              <a:solidFill>
                <a:srgbClr val="661010"/>
              </a:solidFill>
              <a:latin typeface="Calibri"/>
              <a:cs typeface="Calibri"/>
            </a:endParaRPr>
          </a:p>
        </p:txBody>
      </p:sp>
      <p:sp>
        <p:nvSpPr>
          <p:cNvPr id="51" name="object 20">
            <a:extLst>
              <a:ext uri="{FF2B5EF4-FFF2-40B4-BE49-F238E27FC236}">
                <a16:creationId xmlns:a16="http://schemas.microsoft.com/office/drawing/2014/main" id="{324AB3D2-B830-AC0B-4568-531DA06617D8}"/>
              </a:ext>
            </a:extLst>
          </p:cNvPr>
          <p:cNvSpPr txBox="1"/>
          <p:nvPr/>
        </p:nvSpPr>
        <p:spPr>
          <a:xfrm>
            <a:off x="1957397" y="2813525"/>
            <a:ext cx="6373007" cy="142205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15620">
              <a:lnSpc>
                <a:spcPts val="2180"/>
              </a:lnSpc>
              <a:spcBef>
                <a:spcPts val="425"/>
              </a:spcBef>
            </a:pPr>
            <a:r>
              <a:rPr lang="en-US" sz="2800" spc="-285" dirty="0">
                <a:solidFill>
                  <a:srgbClr val="661010"/>
                </a:solidFill>
                <a:latin typeface="Aptos" panose="020B0004020202020204" pitchFamily="34" charset="0"/>
                <a:cs typeface="Tahoma"/>
              </a:rPr>
              <a:t> Customers   by   Demographics</a:t>
            </a:r>
          </a:p>
          <a:p>
            <a:pPr marR="515620">
              <a:lnSpc>
                <a:spcPts val="2180"/>
              </a:lnSpc>
              <a:spcBef>
                <a:spcPts val="425"/>
              </a:spcBef>
            </a:pPr>
            <a:endParaRPr sz="2800" dirty="0">
              <a:solidFill>
                <a:srgbClr val="661010"/>
              </a:solidFill>
              <a:latin typeface="Aptos" panose="020B0004020202020204" pitchFamily="34" charset="0"/>
              <a:cs typeface="Tahoma"/>
            </a:endParaRPr>
          </a:p>
          <a:p>
            <a:pPr marR="5080">
              <a:lnSpc>
                <a:spcPct val="135400"/>
              </a:lnSpc>
              <a:spcBef>
                <a:spcPts val="325"/>
              </a:spcBef>
            </a:pPr>
            <a:r>
              <a:rPr lang="en-US" dirty="0">
                <a:solidFill>
                  <a:srgbClr val="661010"/>
                </a:solidFill>
              </a:rPr>
              <a:t>Analyze customer by demographics such as </a:t>
            </a:r>
            <a:r>
              <a:rPr lang="en-US" dirty="0" err="1">
                <a:solidFill>
                  <a:srgbClr val="661010"/>
                </a:solidFill>
              </a:rPr>
              <a:t>age,gender,city,occupancy</a:t>
            </a:r>
            <a:r>
              <a:rPr lang="en-US" dirty="0">
                <a:solidFill>
                  <a:srgbClr val="661010"/>
                </a:solidFill>
              </a:rPr>
              <a:t> patterns .</a:t>
            </a:r>
            <a:endParaRPr dirty="0">
              <a:solidFill>
                <a:srgbClr val="661010"/>
              </a:solidFill>
              <a:latin typeface="Calibri"/>
              <a:cs typeface="Calibri"/>
            </a:endParaRP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CBC6AFA0-8C8B-CE18-993F-40AFCDD3A85D}"/>
              </a:ext>
            </a:extLst>
          </p:cNvPr>
          <p:cNvSpPr/>
          <p:nvPr/>
        </p:nvSpPr>
        <p:spPr>
          <a:xfrm>
            <a:off x="483796" y="2738048"/>
            <a:ext cx="495193" cy="529056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91FD4E8F-8A4A-54E1-FEAA-F88B477D492A}"/>
              </a:ext>
            </a:extLst>
          </p:cNvPr>
          <p:cNvSpPr/>
          <p:nvPr/>
        </p:nvSpPr>
        <p:spPr>
          <a:xfrm>
            <a:off x="474216" y="4929082"/>
            <a:ext cx="495193" cy="529056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0CD1475D-961A-CFC4-2900-F493C31D0485}"/>
              </a:ext>
            </a:extLst>
          </p:cNvPr>
          <p:cNvSpPr/>
          <p:nvPr/>
        </p:nvSpPr>
        <p:spPr>
          <a:xfrm>
            <a:off x="474216" y="7219950"/>
            <a:ext cx="495193" cy="529056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5D49D00B-C5F9-3A52-F43D-92B41B48B1BB}"/>
              </a:ext>
            </a:extLst>
          </p:cNvPr>
          <p:cNvSpPr/>
          <p:nvPr/>
        </p:nvSpPr>
        <p:spPr>
          <a:xfrm>
            <a:off x="11235531" y="2061454"/>
            <a:ext cx="5105400" cy="63235"/>
          </a:xfrm>
          <a:custGeom>
            <a:avLst/>
            <a:gdLst/>
            <a:ahLst/>
            <a:cxnLst/>
            <a:rect l="l" t="t" r="r" b="b"/>
            <a:pathLst>
              <a:path w="4686300" h="38100">
                <a:moveTo>
                  <a:pt x="4686299" y="38099"/>
                </a:moveTo>
                <a:lnTo>
                  <a:pt x="0" y="38099"/>
                </a:lnTo>
                <a:lnTo>
                  <a:pt x="0" y="0"/>
                </a:lnTo>
                <a:lnTo>
                  <a:pt x="4686299" y="0"/>
                </a:lnTo>
                <a:lnTo>
                  <a:pt x="4686299" y="38099"/>
                </a:lnTo>
                <a:close/>
              </a:path>
            </a:pathLst>
          </a:custGeom>
          <a:solidFill>
            <a:srgbClr val="661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7">
            <a:extLst>
              <a:ext uri="{FF2B5EF4-FFF2-40B4-BE49-F238E27FC236}">
                <a16:creationId xmlns:a16="http://schemas.microsoft.com/office/drawing/2014/main" id="{952BBD1B-E0FF-DE1E-4F45-1CC9766273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7331" y="3016884"/>
            <a:ext cx="685800" cy="513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id="{AE847AA1-A40D-9D72-E21F-DE4EC5109DDE}"/>
              </a:ext>
            </a:extLst>
          </p:cNvPr>
          <p:cNvSpPr txBox="1">
            <a:spLocks/>
          </p:cNvSpPr>
          <p:nvPr/>
        </p:nvSpPr>
        <p:spPr>
          <a:xfrm>
            <a:off x="11235531" y="646061"/>
            <a:ext cx="4953000" cy="448841"/>
          </a:xfrm>
          <a:prstGeom prst="rect">
            <a:avLst/>
          </a:prstGeom>
          <a:solidFill>
            <a:srgbClr val="000000">
              <a:alpha val="10198"/>
            </a:srgbClr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4150" b="1" i="0">
                <a:solidFill>
                  <a:srgbClr val="5C2E09"/>
                </a:solidFill>
                <a:latin typeface="Arial"/>
                <a:ea typeface="+mj-ea"/>
                <a:cs typeface="Arial"/>
              </a:defRPr>
            </a:lvl1pPr>
          </a:lstStyle>
          <a:p>
            <a:pPr marL="3810" algn="ctr">
              <a:lnSpc>
                <a:spcPts val="3510"/>
              </a:lnSpc>
            </a:pPr>
            <a:r>
              <a:rPr lang="en-US" sz="3850" spc="-210" dirty="0">
                <a:solidFill>
                  <a:srgbClr val="661010"/>
                </a:solidFill>
                <a:latin typeface="Tahoma"/>
                <a:cs typeface="Tahoma"/>
              </a:rPr>
              <a:t>D</a:t>
            </a:r>
            <a:r>
              <a:rPr lang="en-IN" sz="3850" spc="-210" dirty="0" err="1">
                <a:solidFill>
                  <a:srgbClr val="661010"/>
                </a:solidFill>
                <a:latin typeface="Tahoma"/>
                <a:cs typeface="Tahoma"/>
              </a:rPr>
              <a:t>ataset</a:t>
            </a:r>
            <a:r>
              <a:rPr lang="en-IN" sz="3850" spc="-210" dirty="0">
                <a:solidFill>
                  <a:srgbClr val="661010"/>
                </a:solidFill>
                <a:latin typeface="Tahoma"/>
                <a:cs typeface="Tahoma"/>
              </a:rPr>
              <a:t> Overview</a:t>
            </a:r>
            <a:endParaRPr lang="en-IN" sz="3850" dirty="0">
              <a:solidFill>
                <a:srgbClr val="661010"/>
              </a:solidFill>
              <a:latin typeface="Tahoma"/>
              <a:cs typeface="Tahoma"/>
            </a:endParaRPr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5C7998AC-7B4D-B17A-085F-417F8C9D04F5}"/>
              </a:ext>
            </a:extLst>
          </p:cNvPr>
          <p:cNvSpPr txBox="1"/>
          <p:nvPr/>
        </p:nvSpPr>
        <p:spPr>
          <a:xfrm>
            <a:off x="10397331" y="2997855"/>
            <a:ext cx="6858000" cy="2164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94765">
              <a:spcBef>
                <a:spcPts val="120"/>
              </a:spcBef>
            </a:pPr>
            <a:r>
              <a:rPr lang="en-IN" sz="2400" dirty="0" err="1">
                <a:solidFill>
                  <a:schemeClr val="accent2">
                    <a:lumMod val="50000"/>
                  </a:schemeClr>
                </a:solidFill>
              </a:rPr>
              <a:t>Dim_Customers</a:t>
            </a: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1294765">
              <a:spcBef>
                <a:spcPts val="120"/>
              </a:spcBef>
            </a:pPr>
            <a:endParaRPr lang="en-US" sz="2400" dirty="0">
              <a:solidFill>
                <a:schemeClr val="accent2">
                  <a:lumMod val="50000"/>
                </a:schemeClr>
              </a:solidFill>
              <a:latin typeface="Arial"/>
              <a:cs typeface="Arial"/>
            </a:endParaRPr>
          </a:p>
          <a:p>
            <a:pPr marL="1294765">
              <a:spcBef>
                <a:spcPts val="120"/>
              </a:spcBef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This dimension table contains customer-level information such as demographics, occupation, income group, and geographic attributes. It provides essential context to segment customers and analyze spending behavior across different customer profiles.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3" name="object 28">
            <a:extLst>
              <a:ext uri="{FF2B5EF4-FFF2-40B4-BE49-F238E27FC236}">
                <a16:creationId xmlns:a16="http://schemas.microsoft.com/office/drawing/2014/main" id="{CC11AB8D-9C83-29C7-9FEC-B5E7AFE6E468}"/>
              </a:ext>
            </a:extLst>
          </p:cNvPr>
          <p:cNvSpPr txBox="1"/>
          <p:nvPr/>
        </p:nvSpPr>
        <p:spPr>
          <a:xfrm>
            <a:off x="10583863" y="6226835"/>
            <a:ext cx="7772400" cy="229703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03960" marR="847725" algn="l">
              <a:lnSpc>
                <a:spcPts val="2400"/>
              </a:lnSpc>
              <a:spcBef>
                <a:spcPts val="250"/>
              </a:spcBef>
            </a:pPr>
            <a:r>
              <a:rPr lang="en-IN" sz="2400" dirty="0" err="1">
                <a:solidFill>
                  <a:schemeClr val="accent2">
                    <a:lumMod val="50000"/>
                  </a:schemeClr>
                </a:solidFill>
              </a:rPr>
              <a:t>Fact_Spends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Arial"/>
              <a:cs typeface="Arial"/>
            </a:endParaRPr>
          </a:p>
          <a:p>
            <a:pPr algn="l">
              <a:spcBef>
                <a:spcPts val="465"/>
              </a:spcBef>
            </a:pPr>
            <a:endParaRPr sz="2400" dirty="0">
              <a:solidFill>
                <a:schemeClr val="accent2">
                  <a:lumMod val="50000"/>
                </a:schemeClr>
              </a:solidFill>
              <a:latin typeface="Arial"/>
              <a:cs typeface="Arial"/>
            </a:endParaRPr>
          </a:p>
          <a:p>
            <a:pPr marL="304165" marR="489584" algn="l">
              <a:lnSpc>
                <a:spcPct val="1406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This fact table captures detailed transaction-level spending data, including customer ID, transaction date, spend category, and amount spent. It serves as the core dataset for analyzing customer spending patterns, trends, and category-wise performance.</a:t>
            </a:r>
            <a:endParaRPr dirty="0">
              <a:solidFill>
                <a:schemeClr val="accent2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24" name="object 26">
            <a:extLst>
              <a:ext uri="{FF2B5EF4-FFF2-40B4-BE49-F238E27FC236}">
                <a16:creationId xmlns:a16="http://schemas.microsoft.com/office/drawing/2014/main" id="{6F3E578B-7774-84A9-53CA-039A63CEDE4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36496" y="6031496"/>
            <a:ext cx="546635" cy="6147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82A1936-57B2-E5C4-0734-DD049CBDEA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714" y="27653"/>
            <a:ext cx="2218195" cy="190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2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D108B8-1C75-D2DF-B020-484437E3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E8AB6C-A4FB-20AC-28DF-44CE6923A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56263" cy="1032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3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61C79A-4337-8B6E-920D-DCDC1FAA3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05DE49-EF97-91D9-E589-4E680705B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56263" cy="1032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1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D57214-A700-6915-273B-2FFFB1D0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EF4BED-F87B-3194-46CA-DEE85801F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8356262" cy="1032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25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A5F964-8CDA-F88C-5650-AE8E7AB5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FE9F0-D9BA-4A84-2632-638EFAFAD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356262" cy="1019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22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595408-4E8F-2D30-825C-5CE884B0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842586-DBEF-522C-31E4-1DA4F9016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1" y="0"/>
            <a:ext cx="18169732" cy="1032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7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5155" y="84963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609599" y="9524"/>
                </a:moveTo>
                <a:lnTo>
                  <a:pt x="0" y="9524"/>
                </a:lnTo>
                <a:lnTo>
                  <a:pt x="0" y="0"/>
                </a:lnTo>
                <a:lnTo>
                  <a:pt x="609599" y="0"/>
                </a:lnTo>
                <a:lnTo>
                  <a:pt x="609599" y="9524"/>
                </a:lnTo>
                <a:close/>
              </a:path>
            </a:pathLst>
          </a:custGeom>
          <a:solidFill>
            <a:srgbClr val="CC8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981777" y="8388351"/>
            <a:ext cx="39306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50" spc="-40" dirty="0">
                <a:solidFill>
                  <a:srgbClr val="8B4512"/>
                </a:solidFill>
                <a:latin typeface="Lucida Sans Unicode"/>
                <a:cs typeface="Lucida Sans Unicode"/>
              </a:rPr>
              <a:t>◆</a:t>
            </a:r>
            <a:r>
              <a:rPr sz="1050" spc="-95" dirty="0">
                <a:solidFill>
                  <a:srgbClr val="8B4512"/>
                </a:solidFill>
                <a:latin typeface="Lucida Sans Unicode"/>
                <a:cs typeface="Lucida Sans Unicode"/>
              </a:rPr>
              <a:t> </a:t>
            </a:r>
            <a:r>
              <a:rPr sz="1050" spc="-40" dirty="0">
                <a:solidFill>
                  <a:srgbClr val="8B4512"/>
                </a:solidFill>
                <a:latin typeface="Lucida Sans Unicode"/>
                <a:cs typeface="Lucida Sans Unicode"/>
              </a:rPr>
              <a:t>◆</a:t>
            </a:r>
            <a:r>
              <a:rPr sz="1050" spc="-95" dirty="0">
                <a:solidFill>
                  <a:srgbClr val="8B4512"/>
                </a:solidFill>
                <a:latin typeface="Lucida Sans Unicode"/>
                <a:cs typeface="Lucida Sans Unicode"/>
              </a:rPr>
              <a:t> </a:t>
            </a:r>
            <a:r>
              <a:rPr sz="1050" spc="-50" dirty="0">
                <a:solidFill>
                  <a:srgbClr val="8B4512"/>
                </a:solidFill>
                <a:latin typeface="Lucida Sans Unicode"/>
                <a:cs typeface="Lucida Sans Unicode"/>
              </a:rPr>
              <a:t>◆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1505" y="84963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609599" y="9524"/>
                </a:moveTo>
                <a:lnTo>
                  <a:pt x="0" y="9524"/>
                </a:lnTo>
                <a:lnTo>
                  <a:pt x="0" y="0"/>
                </a:lnTo>
                <a:lnTo>
                  <a:pt x="609599" y="0"/>
                </a:lnTo>
                <a:lnTo>
                  <a:pt x="609599" y="9524"/>
                </a:lnTo>
                <a:close/>
              </a:path>
            </a:pathLst>
          </a:custGeom>
          <a:solidFill>
            <a:srgbClr val="CC8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92355" y="1514475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799" y="9524"/>
                </a:moveTo>
                <a:lnTo>
                  <a:pt x="0" y="9524"/>
                </a:lnTo>
                <a:lnTo>
                  <a:pt x="0" y="0"/>
                </a:lnTo>
                <a:lnTo>
                  <a:pt x="304799" y="0"/>
                </a:lnTo>
                <a:lnTo>
                  <a:pt x="304799" y="9524"/>
                </a:lnTo>
                <a:close/>
              </a:path>
            </a:pathLst>
          </a:custGeom>
          <a:solidFill>
            <a:srgbClr val="CC8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99499" y="1387476"/>
            <a:ext cx="15748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50" spc="-50" dirty="0">
                <a:solidFill>
                  <a:srgbClr val="8B4512"/>
                </a:solidFill>
                <a:latin typeface="Lucida Sans Unicode"/>
                <a:cs typeface="Lucida Sans Unicode"/>
              </a:rPr>
              <a:t>◆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359105" y="1514475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799" y="9524"/>
                </a:moveTo>
                <a:lnTo>
                  <a:pt x="0" y="9524"/>
                </a:lnTo>
                <a:lnTo>
                  <a:pt x="0" y="0"/>
                </a:lnTo>
                <a:lnTo>
                  <a:pt x="304799" y="0"/>
                </a:lnTo>
                <a:lnTo>
                  <a:pt x="304799" y="9524"/>
                </a:lnTo>
                <a:close/>
              </a:path>
            </a:pathLst>
          </a:custGeom>
          <a:solidFill>
            <a:srgbClr val="CC8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568530" y="685800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12191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" y="0"/>
                </a:lnTo>
                <a:lnTo>
                  <a:pt x="1219199" y="9524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4">
            <a:extLst>
              <a:ext uri="{FF2B5EF4-FFF2-40B4-BE49-F238E27FC236}">
                <a16:creationId xmlns:a16="http://schemas.microsoft.com/office/drawing/2014/main" id="{895F03FD-7F71-53F3-F9EF-D4FA0C9E1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2837" y="602799"/>
            <a:ext cx="8990586" cy="14888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spcBef>
                <a:spcPts val="90"/>
              </a:spcBef>
            </a:pPr>
            <a:r>
              <a:rPr lang="en-US" sz="4800" spc="-195" dirty="0">
                <a:solidFill>
                  <a:srgbClr val="661010"/>
                </a:solidFill>
              </a:rPr>
              <a:t>Insights</a:t>
            </a:r>
            <a:br>
              <a:rPr lang="en-US" sz="4800" spc="-195" dirty="0">
                <a:solidFill>
                  <a:srgbClr val="661010"/>
                </a:solidFill>
              </a:rPr>
            </a:br>
            <a:endParaRPr sz="4800" spc="-325" dirty="0">
              <a:solidFill>
                <a:srgbClr val="66101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14E66A-9E36-2E6E-678D-9C7A1E0B9DC0}"/>
              </a:ext>
            </a:extLst>
          </p:cNvPr>
          <p:cNvSpPr txBox="1"/>
          <p:nvPr/>
        </p:nvSpPr>
        <p:spPr>
          <a:xfrm>
            <a:off x="646854" y="775872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👤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Total Customers: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4K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♂️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Male: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65% | ♀️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Female: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35%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FF120C91-5186-B690-66C0-C610E004B8F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57635" y="1685471"/>
            <a:ext cx="16198688" cy="81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🏙️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Customer Concentration: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Mumbai leads the customer base, followed by Chennai, Bengaluru, and Delhi NCR.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🎂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Age Profile: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Customers aged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25–45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form the largest and most active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💼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Occupation Mix: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Predominantly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salaried IT professionals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followed by salaried non-IT employees and freelancers.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⚖️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Gender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Male customers contribute a higher share of income and spending, while female customers exhibit more controlled and efficient spending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📊 The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middle-class segment constitutes the largest share of customers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 significantly higher than both the lower-middle-class and upper-middle-class segments, indicating a strong concentration of mass-market, income-stable customers.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🎂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Income by Age: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Customers aged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25–34 and 35–45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generate the highest average income.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📆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Seasonality Insight: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Income utilization peaks during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August–September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 reflecting seasonal spending patterns</a:t>
            </a:r>
            <a:r>
              <a:rPr lang="en-US" dirty="0"/>
              <a:t>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♂️ Male customers exhibit higher credit utilization than ♀️ female customers, indicating greater credit adoption and spending intensity.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High-utilization segments (Salaried IT and Freelancers) present immediate growth opportunities, while low-utilization, low-risk segments (Government Employees) offer scope for controlled credit expansion.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A7725F19-FC0A-E481-6B73-6164E57B0779}"/>
              </a:ext>
            </a:extLst>
          </p:cNvPr>
          <p:cNvSpPr/>
          <p:nvPr/>
        </p:nvSpPr>
        <p:spPr>
          <a:xfrm>
            <a:off x="386581" y="1755993"/>
            <a:ext cx="228600" cy="228600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B182AFC-8A3E-9120-7192-F0856C52D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3593" y="461728"/>
            <a:ext cx="2767992" cy="2230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717F30-2559-06BD-2222-9AFFE6BE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7B5926ED-6896-2D47-E324-57C836AD2925}"/>
              </a:ext>
            </a:extLst>
          </p:cNvPr>
          <p:cNvSpPr/>
          <p:nvPr/>
        </p:nvSpPr>
        <p:spPr>
          <a:xfrm>
            <a:off x="8692355" y="1514475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799" y="9524"/>
                </a:moveTo>
                <a:lnTo>
                  <a:pt x="0" y="9524"/>
                </a:lnTo>
                <a:lnTo>
                  <a:pt x="0" y="0"/>
                </a:lnTo>
                <a:lnTo>
                  <a:pt x="304799" y="0"/>
                </a:lnTo>
                <a:lnTo>
                  <a:pt x="304799" y="9524"/>
                </a:lnTo>
                <a:close/>
              </a:path>
            </a:pathLst>
          </a:custGeom>
          <a:solidFill>
            <a:srgbClr val="CC8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DF445EF-A966-DDCF-300C-272D6B03563B}"/>
              </a:ext>
            </a:extLst>
          </p:cNvPr>
          <p:cNvSpPr txBox="1"/>
          <p:nvPr/>
        </p:nvSpPr>
        <p:spPr>
          <a:xfrm>
            <a:off x="9099499" y="1387476"/>
            <a:ext cx="15748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50" spc="-50" dirty="0">
                <a:solidFill>
                  <a:srgbClr val="8B4512"/>
                </a:solidFill>
                <a:latin typeface="Lucida Sans Unicode"/>
                <a:cs typeface="Lucida Sans Unicode"/>
              </a:rPr>
              <a:t>◆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944B300-8CE0-7C09-2527-B54F4C8D800C}"/>
              </a:ext>
            </a:extLst>
          </p:cNvPr>
          <p:cNvSpPr/>
          <p:nvPr/>
        </p:nvSpPr>
        <p:spPr>
          <a:xfrm>
            <a:off x="9359105" y="1514475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799" y="9524"/>
                </a:moveTo>
                <a:lnTo>
                  <a:pt x="0" y="9524"/>
                </a:lnTo>
                <a:lnTo>
                  <a:pt x="0" y="0"/>
                </a:lnTo>
                <a:lnTo>
                  <a:pt x="304799" y="0"/>
                </a:lnTo>
                <a:lnTo>
                  <a:pt x="304799" y="9524"/>
                </a:lnTo>
                <a:close/>
              </a:path>
            </a:pathLst>
          </a:custGeom>
          <a:solidFill>
            <a:srgbClr val="CC8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581CA05-C7CA-E277-14BC-D23966156CE5}"/>
              </a:ext>
            </a:extLst>
          </p:cNvPr>
          <p:cNvSpPr/>
          <p:nvPr/>
        </p:nvSpPr>
        <p:spPr>
          <a:xfrm>
            <a:off x="8568530" y="685800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12191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" y="0"/>
                </a:lnTo>
                <a:lnTo>
                  <a:pt x="1219199" y="9524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4">
            <a:extLst>
              <a:ext uri="{FF2B5EF4-FFF2-40B4-BE49-F238E27FC236}">
                <a16:creationId xmlns:a16="http://schemas.microsoft.com/office/drawing/2014/main" id="{CADF4F5D-1CE3-1C5A-E370-9066B7D2E7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2837" y="602799"/>
            <a:ext cx="8990586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spcBef>
                <a:spcPts val="90"/>
              </a:spcBef>
            </a:pPr>
            <a:r>
              <a:rPr lang="en-US" sz="4800" spc="-195" dirty="0">
                <a:solidFill>
                  <a:srgbClr val="661010"/>
                </a:solidFill>
              </a:rPr>
              <a:t>Recommendations</a:t>
            </a:r>
            <a:endParaRPr sz="4800" spc="-325" dirty="0">
              <a:solidFill>
                <a:srgbClr val="661010"/>
              </a:solidFill>
            </a:endParaRP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D245147E-5212-D44F-1164-9E1F569DD4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59068" y="1968295"/>
            <a:ext cx="682270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1. Primary Target Segment</a:t>
            </a:r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Urban Salaried Professionals (25–45 years)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Cities: Mumbai, Bengaluru, Chennai, Delhi NCR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Occupations: Salaried IT &amp; Salaried Other Employees</a:t>
            </a:r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Recommended Card Type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👉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Lifestyle Rewards Credit Card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Features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Cashback on groceries, bills, and online shopping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Travel and dining reward points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EMI options on electronics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Moderate annual fee with waiver on spend threshold</a:t>
            </a:r>
          </a:p>
          <a:p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2A5A7DAC-F106-7C8E-A2DC-BC5A3E1782E4}"/>
              </a:ext>
            </a:extLst>
          </p:cNvPr>
          <p:cNvSpPr/>
          <p:nvPr/>
        </p:nvSpPr>
        <p:spPr>
          <a:xfrm>
            <a:off x="567531" y="1987345"/>
            <a:ext cx="228600" cy="228600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0EC0AB8-9E37-0858-A6FA-504B4505352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44077" y="5270055"/>
            <a:ext cx="65482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2.Secondary Segment</a:t>
            </a:r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Freelancers &amp; Self-Employed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Recommended Card Type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👉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Flexible Spending Credit Card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Features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Higher credit utilization allowance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Flexible billing cycles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Rewards on digital payments &amp; subscriptions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Instant credit limit enhancements</a:t>
            </a:r>
          </a:p>
          <a:p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F8863EA-5504-DCB1-1245-B601B25E16D3}"/>
              </a:ext>
            </a:extLst>
          </p:cNvPr>
          <p:cNvSpPr/>
          <p:nvPr/>
        </p:nvSpPr>
        <p:spPr>
          <a:xfrm>
            <a:off x="567531" y="5391150"/>
            <a:ext cx="228600" cy="228600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B7E55A7B-504C-2955-5FBB-35C8EA8CBA03}"/>
              </a:ext>
            </a:extLst>
          </p:cNvPr>
          <p:cNvSpPr/>
          <p:nvPr/>
        </p:nvSpPr>
        <p:spPr>
          <a:xfrm flipH="1">
            <a:off x="9155269" y="1632905"/>
            <a:ext cx="45719" cy="8006395"/>
          </a:xfrm>
          <a:custGeom>
            <a:avLst/>
            <a:gdLst/>
            <a:ahLst/>
            <a:cxnLst/>
            <a:rect l="l" t="t" r="r" b="b"/>
            <a:pathLst>
              <a:path w="9525" h="4200525">
                <a:moveTo>
                  <a:pt x="9524" y="4200524"/>
                </a:moveTo>
                <a:lnTo>
                  <a:pt x="0" y="4200524"/>
                </a:lnTo>
                <a:lnTo>
                  <a:pt x="0" y="0"/>
                </a:lnTo>
                <a:lnTo>
                  <a:pt x="9524" y="0"/>
                </a:lnTo>
                <a:lnTo>
                  <a:pt x="9524" y="4200524"/>
                </a:lnTo>
                <a:close/>
              </a:path>
            </a:pathLst>
          </a:custGeom>
          <a:solidFill>
            <a:srgbClr val="661010"/>
          </a:solidFill>
        </p:spPr>
        <p:txBody>
          <a:bodyPr wrap="square" lIns="0" tIns="0" rIns="0" bIns="0" rtlCol="0"/>
          <a:lstStyle/>
          <a:p>
            <a:endParaRPr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84268106-B86C-04AC-FC01-1C44885B8D65}"/>
              </a:ext>
            </a:extLst>
          </p:cNvPr>
          <p:cNvSpPr/>
          <p:nvPr/>
        </p:nvSpPr>
        <p:spPr>
          <a:xfrm>
            <a:off x="10170054" y="1987345"/>
            <a:ext cx="228600" cy="228600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6A141-2D3F-FD43-5B5A-D945E0C82CB4}"/>
              </a:ext>
            </a:extLst>
          </p:cNvPr>
          <p:cNvSpPr txBox="1"/>
          <p:nvPr/>
        </p:nvSpPr>
        <p:spPr>
          <a:xfrm>
            <a:off x="11739373" y="2101645"/>
            <a:ext cx="63789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4. Low-Risk Segment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Government Employees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Recommended Card Type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👉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Low-Interest Credit Card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Features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Lower interest rates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Conservative credit limits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Minimal annual fee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Ideal for long-term relationship building</a:t>
            </a:r>
          </a:p>
          <a:p>
            <a:pPr>
              <a:buNone/>
            </a:pP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D30E1F-357F-6F4F-74A4-CA9C12DB6EE3}"/>
              </a:ext>
            </a:extLst>
          </p:cNvPr>
          <p:cNvSpPr txBox="1"/>
          <p:nvPr/>
        </p:nvSpPr>
        <p:spPr>
          <a:xfrm>
            <a:off x="2108673" y="8210550"/>
            <a:ext cx="65836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3. Gender-Focused Opportunity</a:t>
            </a:r>
          </a:p>
          <a:p>
            <a:pPr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Women Customers (Underpenetrated Segment)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Launch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Women-Focused Rewards Card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Benefits on wellness, shopping, education, and travel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Higher reward multipliers on essential categories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DD2E25-2935-D74F-4FAF-BD8D3DE46699}"/>
              </a:ext>
            </a:extLst>
          </p:cNvPr>
          <p:cNvSpPr txBox="1"/>
          <p:nvPr/>
        </p:nvSpPr>
        <p:spPr>
          <a:xfrm>
            <a:off x="11737387" y="5114985"/>
            <a:ext cx="59894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5. Age-Wise Customer Targeting Recommendations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Age 21–25: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Starter Credit Card with low limits, cashback on essentials &amp; online spending, and credit-building benefits for early adoption.</a:t>
            </a:r>
          </a:p>
          <a:p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Age 26–35: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Lifestyle Rewards Card offering cashback, travel &amp; dining points, EMI options, and fee waivers to boost usage.</a:t>
            </a:r>
          </a:p>
          <a:p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Age 36–45: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Premium Lifestyle Card with higher limits, family-oriented rewards, travel benefits, and priority support to enhance loyalty.</a:t>
            </a:r>
          </a:p>
          <a:p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Age 46–60: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Low-Interest/Premium Card with conservative limits, minimal fees, and travel, wellness &amp; insurance perks for secure, flexible credit.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C33F25F6-76E0-FA24-B7AB-E658DAA12F75}"/>
              </a:ext>
            </a:extLst>
          </p:cNvPr>
          <p:cNvSpPr/>
          <p:nvPr/>
        </p:nvSpPr>
        <p:spPr>
          <a:xfrm>
            <a:off x="10170054" y="5270055"/>
            <a:ext cx="228600" cy="228600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E6B98285-4F6A-BBA8-BC62-8049EED7E493}"/>
              </a:ext>
            </a:extLst>
          </p:cNvPr>
          <p:cNvSpPr/>
          <p:nvPr/>
        </p:nvSpPr>
        <p:spPr>
          <a:xfrm>
            <a:off x="629400" y="8246954"/>
            <a:ext cx="228600" cy="228600"/>
          </a:xfrm>
          <a:prstGeom prst="diamond">
            <a:avLst/>
          </a:prstGeom>
          <a:solidFill>
            <a:srgbClr val="66101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6600"/>
                </a:solidFill>
              </a:ln>
              <a:solidFill>
                <a:srgbClr val="FF66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20D44E2-664E-740F-1F83-EBD8D3591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0331" y="272308"/>
            <a:ext cx="2767992" cy="223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6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bject 14">
            <a:extLst>
              <a:ext uri="{FF2B5EF4-FFF2-40B4-BE49-F238E27FC236}">
                <a16:creationId xmlns:a16="http://schemas.microsoft.com/office/drawing/2014/main" id="{9D8C1991-2500-F270-9739-172ECF0EE7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39531" y="4933950"/>
            <a:ext cx="7342760" cy="10272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spcBef>
                <a:spcPts val="90"/>
              </a:spcBef>
            </a:pPr>
            <a:r>
              <a:rPr lang="en-US" sz="4800" spc="-195" dirty="0">
                <a:solidFill>
                  <a:srgbClr val="661010"/>
                </a:solidFill>
              </a:rPr>
              <a:t> </a:t>
            </a:r>
            <a:r>
              <a:rPr lang="en-US" sz="6600" spc="-195" dirty="0">
                <a:solidFill>
                  <a:srgbClr val="661010"/>
                </a:solidFill>
              </a:rPr>
              <a:t>Thank You</a:t>
            </a:r>
            <a:endParaRPr sz="6600" spc="-325" dirty="0">
              <a:solidFill>
                <a:srgbClr val="661010"/>
              </a:solidFill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F2D210F4-F199-32BE-BECC-C89B5AD51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915" y="2495550"/>
            <a:ext cx="2767992" cy="2230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716</Words>
  <Application>Microsoft Office PowerPoint</Application>
  <PresentationFormat>Custom</PresentationFormat>
  <Paragraphs>99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Lucida Sans Unicode</vt:lpstr>
      <vt:lpstr>Tahoma</vt:lpstr>
      <vt:lpstr>Office Theme</vt:lpstr>
      <vt:lpstr>Mitron Bank: New Credit Card Line</vt:lpstr>
      <vt:lpstr>PROJECT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</vt:lpstr>
      <vt:lpstr>Recommendations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NAVIN</dc:creator>
  <cp:lastModifiedBy>NAVIN RAPELLI</cp:lastModifiedBy>
  <cp:revision>3</cp:revision>
  <dcterms:created xsi:type="dcterms:W3CDTF">2025-12-17T14:48:20Z</dcterms:created>
  <dcterms:modified xsi:type="dcterms:W3CDTF">2025-12-19T13:45:08Z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LastSaved">
    <vt:filetime>2025-12-17T00:00:00Z</vt:filetime>
  </property>
</Properties>
</file>